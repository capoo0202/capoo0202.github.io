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2" r:id="rId4"/>
    <p:sldId id="273" r:id="rId5"/>
    <p:sldId id="274" r:id="rId6"/>
    <p:sldId id="256" r:id="rId7"/>
    <p:sldId id="258" r:id="rId8"/>
    <p:sldId id="267" r:id="rId9"/>
    <p:sldId id="268" r:id="rId10"/>
    <p:sldId id="269" r:id="rId11"/>
    <p:sldId id="279" r:id="rId12"/>
    <p:sldId id="280" r:id="rId13"/>
    <p:sldId id="282" r:id="rId14"/>
    <p:sldId id="281" r:id="rId15"/>
    <p:sldId id="283" r:id="rId16"/>
    <p:sldId id="257" r:id="rId17"/>
    <p:sldId id="275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F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D739A3-721B-406C-A47E-38F3B3BEB2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5F1117F-EE0E-4797-A7C9-7C943872E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13EB5DA-E581-47BA-962F-8FB01AEDB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87CA32-75B7-4521-B6E4-47C68F74F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50CFACE-4A97-4E86-A770-CE0547BC0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4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69975B-3475-494A-A365-AA0364E3C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8F8248F-049D-4473-A817-3564036625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E9E18E4-8E27-4F52-8CC6-318866A9B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D903753-8AF2-4599-9D95-37A9FB65C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CF59C38-B59D-433B-8C10-73CCE8301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00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F10198-9011-4216-9C86-3BFA616BA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D2EBD6C-E6A0-4A35-BA00-D02BFBB64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3E0EF6-A4BD-43D2-824B-F90342258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1DC3D6-C28B-429A-ADB0-720F7B19D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4395855-CC6A-4B6E-8254-47CE23B6B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66530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BEFE4C-F6E3-4687-9A64-D829B4153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7B92B15-05C0-4B23-A2B9-CA730A501F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296903E-E3DF-4212-9B93-5ACC02F7EE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BABEB2A-12B8-4D94-8B75-3300C39DA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42D6F5A-5495-462E-9EAB-7D3093687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AF066BF-3771-4D06-9807-B95AAFC21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96136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439EFB-D0F0-4CAB-97CE-8EE470918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533B101-5C5E-4A37-B07C-7946A4240A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7AD0EF-9780-4064-B224-E033B15028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2AA53A2-6028-45AF-9B75-4AE85710A2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E3FDADF-1550-4631-9DF0-12417D7091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7ACE335-7927-455C-AE5B-EF330D8F8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F037A6C2-0D73-4941-BD4C-41BF2AA17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5220C76-B9B1-4EFA-BB32-3F0D3951F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852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841A4A-158A-4783-8037-2D0E43C8A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BD7E1949-A6E7-43EE-AA16-36E651BF7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7944209-A549-4AC4-A827-CC0CB97F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3F99377-F8F8-4F9C-9359-4409E9E11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1480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0928C1D-2F11-402E-AA6F-862610980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D8C4AD6-1077-4375-865D-F503C99A4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8853A6-84C8-44C7-97A8-0EA24650A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26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71552C-0E47-4754-A03B-E723CECA0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4F8B83-B4CA-49DC-ACB7-F33B7ABB1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57D1315-55F2-4F7D-B1F5-BBE64EDC3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9C65ED7-8CFB-4615-9AB1-B2F3840B3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0D09BFA-7A7C-4696-9B34-2C5C3762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3E618E1-19C9-4F93-AD56-AB9CCC660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1005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15867E-530F-4EE9-B715-0FCDF4B9D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8EEBBE3C-3597-44DB-81B2-84FE8188C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EA7F6F0-03FE-4569-B86B-A3F4553F5D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68AE386-F15A-4353-9C06-14646CA7FD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2E89D1E-86C0-43DD-B271-D403E32BC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23FC2CB-9468-4FB0-B703-89101568B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626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E7C4C5-C360-4589-878A-410AD1750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5A8D06A-7F0B-4D51-ADBF-FA8C667079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D836801-95AD-4AA1-A01C-E4F1B59DD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0FD8CA-F4BD-4B57-81AF-87D5EC884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9D07B37-EACD-4AEA-903E-B11A3BCA3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9428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4702884-5462-4D85-B00B-8E4FA50207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A7F8BAE-DE2C-455B-B14A-E527CA9ABA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5912B43-DA06-420B-8E03-533A6F197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47DB858-D97A-413A-A702-FCAD3795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36DEB19-1DAA-4593-8B66-D3D406E16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9241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4272F13-9022-47BD-88C2-C76D6D66D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E83FC50-2B8E-4920-BA81-31CBF16B8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CDA6839-D18B-4444-8D12-3590D7924E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1AF6E7-6439-4794-96EC-B314F0A2B304}" type="datetimeFigureOut">
              <a:rPr lang="zh-TW" altLang="en-US" smtClean="0"/>
              <a:t>2024/10/14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0AB8C14-6E7F-46C2-8E12-0118C0606F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1FE853F-D50B-4829-9C5B-79B686C67F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CA68E1-1625-40F5-87AE-A501230E1B1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3044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AB59A2B3-69FC-4FA9-9600-B54AD355CD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3" y="1779889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2546F4A6-33C9-4506-9975-A47B6076DA54}"/>
              </a:ext>
            </a:extLst>
          </p:cNvPr>
          <p:cNvSpPr txBox="1"/>
          <p:nvPr/>
        </p:nvSpPr>
        <p:spPr>
          <a:xfrm>
            <a:off x="4742903" y="2643859"/>
            <a:ext cx="270619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4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綠色</a:t>
            </a:r>
            <a:endParaRPr lang="en-US" altLang="zh-TW" sz="4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4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債券</a:t>
            </a:r>
            <a:endParaRPr lang="en-US" altLang="zh-TW" sz="4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991475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63402117-8B24-4971-BD36-C38C3E40DC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3" y="1779153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808D231E-E016-4045-B998-2DC01F7706EA}"/>
              </a:ext>
            </a:extLst>
          </p:cNvPr>
          <p:cNvSpPr txBox="1"/>
          <p:nvPr/>
        </p:nvSpPr>
        <p:spPr>
          <a:xfrm>
            <a:off x="4761909" y="2505359"/>
            <a:ext cx="270619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社會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責任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債券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19880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9E02591-C9A9-43B6-97F0-D6359C6B3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4" y="1779153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843E3332-1887-4194-B72A-A44A685C7CD2}"/>
              </a:ext>
            </a:extLst>
          </p:cNvPr>
          <p:cNvSpPr txBox="1"/>
          <p:nvPr/>
        </p:nvSpPr>
        <p:spPr>
          <a:xfrm>
            <a:off x="4742903" y="2505359"/>
            <a:ext cx="270619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可持續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發展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債券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44316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885D8A7F-CD2E-4DD3-A02D-A18CDA4E33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4" y="1779153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EA50F221-7FE7-48BA-A934-9122B8D64217}"/>
              </a:ext>
            </a:extLst>
          </p:cNvPr>
          <p:cNvSpPr txBox="1"/>
          <p:nvPr/>
        </p:nvSpPr>
        <p:spPr>
          <a:xfrm>
            <a:off x="4742903" y="2505359"/>
            <a:ext cx="270619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可持續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發展連結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債券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540997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64834DC-7220-442A-8CCA-98CE57430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3" y="1779154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905D7DBE-4B1A-459E-9E50-B52B419473AE}"/>
              </a:ext>
            </a:extLst>
          </p:cNvPr>
          <p:cNvSpPr txBox="1"/>
          <p:nvPr/>
        </p:nvSpPr>
        <p:spPr>
          <a:xfrm>
            <a:off x="4742903" y="2797747"/>
            <a:ext cx="270619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永續發展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債券專版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4213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56D383C9-F7B1-45B0-BFDB-B8A704655F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4" y="1779153"/>
            <a:ext cx="2706193" cy="329906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B2548C2-D8FB-4034-877C-AEAF62DD46E9}"/>
              </a:ext>
            </a:extLst>
          </p:cNvPr>
          <p:cNvSpPr txBox="1"/>
          <p:nvPr/>
        </p:nvSpPr>
        <p:spPr>
          <a:xfrm>
            <a:off x="4742903" y="2212971"/>
            <a:ext cx="2706194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臺灣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第一個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氣候指數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1971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E284BE37-438A-4870-A7D1-2527C54FE3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3" y="1779154"/>
            <a:ext cx="2706193" cy="3299069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64C01C6A-1313-44AD-8A3B-07A01F88FCD5}"/>
              </a:ext>
            </a:extLst>
          </p:cNvPr>
          <p:cNvSpPr txBox="1"/>
          <p:nvPr/>
        </p:nvSpPr>
        <p:spPr>
          <a:xfrm>
            <a:off x="4742903" y="1920584"/>
            <a:ext cx="270619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TPEX FactSet</a:t>
            </a: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氣候韌性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指數系列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編製者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31514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B2458D3-29E4-4084-9FC0-396EA79C0A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3" y="1779154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2921D62-0CE4-4F05-9DD1-1C743A58BC24}"/>
              </a:ext>
            </a:extLst>
          </p:cNvPr>
          <p:cNvSpPr txBox="1"/>
          <p:nvPr/>
        </p:nvSpPr>
        <p:spPr>
          <a:xfrm>
            <a:off x="4742903" y="1920584"/>
            <a:ext cx="270619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TPEX</a:t>
            </a:r>
          </a:p>
          <a:p>
            <a:pPr algn="ctr"/>
            <a:r>
              <a:rPr lang="en-US" altLang="zh-TW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FactSet</a:t>
            </a: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氣候韌性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指數系列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有幾支指數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82274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D9C1E684-9E32-410B-BE9F-0A8010EF43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4" y="1779154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0464A269-F5EF-4658-824C-CC96551FAC82}"/>
              </a:ext>
            </a:extLst>
          </p:cNvPr>
          <p:cNvSpPr txBox="1"/>
          <p:nvPr/>
        </p:nvSpPr>
        <p:spPr>
          <a:xfrm>
            <a:off x="4742903" y="1920584"/>
            <a:ext cx="2706194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TPEX </a:t>
            </a:r>
          </a:p>
          <a:p>
            <a:pPr algn="ctr"/>
            <a:r>
              <a:rPr lang="en-US" altLang="zh-TW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FactSet</a:t>
            </a: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氣候韌性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指數系列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發布日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656656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F69D5A3-EAB5-4C01-A281-B8F34BB363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2903" y="1779153"/>
            <a:ext cx="2706193" cy="3299069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64B7BD82-E337-4800-B67E-F098293A29BE}"/>
              </a:ext>
            </a:extLst>
          </p:cNvPr>
          <p:cNvSpPr txBox="1"/>
          <p:nvPr/>
        </p:nvSpPr>
        <p:spPr>
          <a:xfrm>
            <a:off x="4742903" y="2505359"/>
            <a:ext cx="270619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臺灣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第一檔</a:t>
            </a:r>
            <a:endParaRPr lang="en-US" altLang="zh-TW" sz="3800" b="1" dirty="0">
              <a:solidFill>
                <a:srgbClr val="54FEFE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氣候</a:t>
            </a:r>
            <a:r>
              <a:rPr lang="en-US" altLang="zh-TW" sz="3800" b="1" dirty="0">
                <a:solidFill>
                  <a:srgbClr val="54FEFE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ETN</a:t>
            </a:r>
          </a:p>
        </p:txBody>
      </p:sp>
    </p:spTree>
    <p:extLst>
      <p:ext uri="{BB962C8B-B14F-4D97-AF65-F5344CB8AC3E}">
        <p14:creationId xmlns:p14="http://schemas.microsoft.com/office/powerpoint/2010/main" val="42108754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57170" y="2797747"/>
            <a:ext cx="2696665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綠色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效益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2674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47666" y="2797747"/>
            <a:ext cx="2696665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社會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效益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6780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47666" y="2505359"/>
            <a:ext cx="269666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綠色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+</a:t>
            </a: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社會效益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43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42903" y="3013190"/>
            <a:ext cx="26966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SLB</a:t>
            </a:r>
          </a:p>
        </p:txBody>
      </p:sp>
    </p:spTree>
    <p:extLst>
      <p:ext uri="{BB962C8B-B14F-4D97-AF65-F5344CB8AC3E}">
        <p14:creationId xmlns:p14="http://schemas.microsoft.com/office/powerpoint/2010/main" val="37070916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AB6840BA-E7D1-4368-9BD3-3FCD3855BA06}"/>
              </a:ext>
            </a:extLst>
          </p:cNvPr>
          <p:cNvGrpSpPr/>
          <p:nvPr/>
        </p:nvGrpSpPr>
        <p:grpSpPr>
          <a:xfrm>
            <a:off x="4747666" y="1785273"/>
            <a:ext cx="2696666" cy="3287454"/>
            <a:chOff x="4747666" y="1785273"/>
            <a:chExt cx="2696666" cy="3287454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8A400D96-E098-41D2-A91B-9ECA52293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47667" y="1785273"/>
              <a:ext cx="2696665" cy="3287454"/>
            </a:xfrm>
            <a:prstGeom prst="rect">
              <a:avLst/>
            </a:prstGeom>
          </p:spPr>
        </p:pic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436194E-B337-49D9-BAAE-6F0BBA69FC4E}"/>
                </a:ext>
              </a:extLst>
            </p:cNvPr>
            <p:cNvSpPr txBox="1"/>
            <p:nvPr/>
          </p:nvSpPr>
          <p:spPr>
            <a:xfrm>
              <a:off x="4747666" y="2797747"/>
              <a:ext cx="2696665" cy="12618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3800" b="1" dirty="0">
                  <a:solidFill>
                    <a:srgbClr val="FFFF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櫃買</a:t>
              </a:r>
              <a:endPara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endParaRPr>
            </a:p>
            <a:p>
              <a:pPr algn="ctr"/>
              <a:r>
                <a:rPr lang="zh-TW" altLang="en-US" sz="3800" b="1" dirty="0">
                  <a:solidFill>
                    <a:srgbClr val="FFFF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  <a:cs typeface="Arial" panose="020B0604020202020204" pitchFamily="34" charset="0"/>
                </a:rPr>
                <a:t>中心</a:t>
              </a:r>
              <a:endPara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31842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47666" y="2212971"/>
            <a:ext cx="2696665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TPEX</a:t>
            </a:r>
          </a:p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FactSet</a:t>
            </a: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氣候韌性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指數系列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4246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42903" y="2505359"/>
            <a:ext cx="269666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櫃買中心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及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FactSet</a:t>
            </a:r>
          </a:p>
        </p:txBody>
      </p:sp>
    </p:spTree>
    <p:extLst>
      <p:ext uri="{BB962C8B-B14F-4D97-AF65-F5344CB8AC3E}">
        <p14:creationId xmlns:p14="http://schemas.microsoft.com/office/powerpoint/2010/main" val="3698213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57170" y="2766969"/>
            <a:ext cx="269666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80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196752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57170" y="2505359"/>
            <a:ext cx="269666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2023</a:t>
            </a:r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年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9</a:t>
            </a:r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月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25</a:t>
            </a:r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日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4758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8A400D96-E098-41D2-A91B-9ECA52293B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7667" y="1785273"/>
            <a:ext cx="2696665" cy="328745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F436194E-B337-49D9-BAAE-6F0BBA69FC4E}"/>
              </a:ext>
            </a:extLst>
          </p:cNvPr>
          <p:cNvSpPr txBox="1"/>
          <p:nvPr/>
        </p:nvSpPr>
        <p:spPr>
          <a:xfrm>
            <a:off x="4742903" y="2505359"/>
            <a:ext cx="2696665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兆豐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淨零</a:t>
            </a:r>
            <a:endParaRPr lang="en-US" altLang="zh-TW" sz="3800" b="1" dirty="0">
              <a:solidFill>
                <a:srgbClr val="FFFF0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Arial" panose="020B0604020202020204" pitchFamily="34" charset="0"/>
            </a:endParaRPr>
          </a:p>
          <a:p>
            <a:pPr algn="ctr"/>
            <a:r>
              <a:rPr lang="zh-TW" altLang="en-US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氣候</a:t>
            </a:r>
            <a:r>
              <a:rPr lang="en-US" altLang="zh-TW" sz="3800" b="1" dirty="0">
                <a:solidFill>
                  <a:srgbClr val="FFFF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1548921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94</Words>
  <Application>Microsoft Office PowerPoint</Application>
  <PresentationFormat>寬螢幕</PresentationFormat>
  <Paragraphs>58</Paragraphs>
  <Slides>20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5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黃安同</dc:creator>
  <cp:lastModifiedBy>黃安同</cp:lastModifiedBy>
  <cp:revision>7</cp:revision>
  <dcterms:created xsi:type="dcterms:W3CDTF">2024-09-03T01:04:43Z</dcterms:created>
  <dcterms:modified xsi:type="dcterms:W3CDTF">2024-10-14T02:15:44Z</dcterms:modified>
</cp:coreProperties>
</file>